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등록 건수</c:v>
                </c:pt>
              </c:strCache>
            </c:strRef>
          </c:tx>
          <c:spPr>
            <a:solidFill>
              <a:srgbClr val="7E8C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383838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전남</c:v>
                  </c:pt>
                  <c:pt idx="1">
                    <c:v>강원</c:v>
                  </c:pt>
                  <c:pt idx="2">
                    <c:v>경북</c:v>
                  </c:pt>
                  <c:pt idx="3">
                    <c:v>경남</c:v>
                  </c:pt>
                  <c:pt idx="4">
                    <c:v>전북</c:v>
                  </c:pt>
                  <c:pt idx="5">
                    <c:v>충남</c:v>
                  </c:pt>
                  <c:pt idx="6">
                    <c:v>경기</c:v>
                  </c:pt>
                  <c:pt idx="7">
                    <c:v>충북</c:v>
                  </c:pt>
                  <c:pt idx="8">
                    <c:v>부산</c:v>
                  </c:pt>
                  <c:pt idx="9">
                    <c:v>제주</c:v>
                  </c:pt>
                  <c:pt idx="10">
                    <c:v>인천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52</c:v>
                </c:pt>
                <c:pt idx="1">
                  <c:v>14</c:v>
                </c:pt>
                <c:pt idx="2">
                  <c:v>12</c:v>
                </c:pt>
                <c:pt idx="3">
                  <c:v>10</c:v>
                </c:pt>
                <c:pt idx="4">
                  <c:v>9</c:v>
                </c:pt>
                <c:pt idx="5">
                  <c:v>8</c:v>
                </c:pt>
                <c:pt idx="6">
                  <c:v>7</c:v>
                </c:pt>
                <c:pt idx="7">
                  <c:v>6</c:v>
                </c:pt>
                <c:pt idx="8">
                  <c:v>4</c:v>
                </c:pt>
                <c:pt idx="9">
                  <c:v>3</c:v>
                </c:pt>
                <c:pt idx="10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383838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383838"/>
                </a:solidFill>
                <a:latin typeface="맑은 고딕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실제로 물어보세요. 손을 들게 하거나 한 명을 지목해서 답을 받으세요. 답이 나와야 3번 장이 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의성이라는 답을 부정하지 마세요. 인정하고 넘어가야 다음 장이 공격이 아니라 발견이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멈추고 3초 쉬세요. 설명을 붙이지 마세요. 지역 이름 여섯 개가 스스로 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개만 읽고 넘어가세요. 19가지라는 숫자가 남으면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칩에 적힌 네 개를 소리 내 읽으세요. 처음 듣는 이름이라는 반응이 나오면 그게 증거입니다.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주석을 꼭 말하세요. 광역시가 0인 걸 안 짚으면 질의응답에서 먼저 지적당합니다.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축제·홍보·쇼핑몰이 다 이 구조입니다. 문제를 푸는 게 아니라 키우는 쪽으로 작동합니다.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장이 차별점입니다. 대부분의 추천 서비스는 여기서 반대로 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'배정'이라는 말을 쓰세요. '추천'이라고 하면 취향 이야기로 되돌아갑니다.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개인 결과에서 오래 끌지 마세요. '같은 이름 다른 곳'과 전체 목록에서 멈춰야 문제가 전달됩니다. 인터넷이 끊기면 녹화본으로 넘어가세요.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번째가 우리 차별점입니다. 대부분의 팀은 여기서 추정치를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지니계수 정의를 설명하지 마세요. 134개가 전부 나왔다는 한 줄이면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번째는 약점이 아니라 선택으로 말하세요. '고칠 수 있는데 일부러 안 고쳤습니다. 고치면 지표가 뜻을 잃습니다.'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끝냅니다. 덧붙이지 마세요. 앞에서 굴비를 미리 꺼내면 이 장이 죽습니다.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8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874520"/>
            <a:ext cx="10637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dirty="0">
                <a:solidFill>
                  <a:srgbClr val="ABBDB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마늘 하면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777240" y="2697480"/>
            <a:ext cx="106372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어디가 떠오르세요?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777240" y="580644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C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그날, 어디에서는  ·  2026. 8. 24.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8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다들 같은 답을 합니다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777240" y="2194560"/>
            <a:ext cx="3200400" cy="1554480"/>
          </a:xfrm>
          <a:prstGeom prst="roundRect">
            <a:avLst>
              <a:gd name="adj" fmla="val 50000"/>
            </a:avLst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194560"/>
            <a:ext cx="3200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의성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343400" y="2514600"/>
            <a:ext cx="7071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83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여기까지는 성공한 브랜딩입니다.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343400" y="3154680"/>
            <a:ext cx="70710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E8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 이걸 부정하려는 게 아닙니다.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8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417320"/>
            <a:ext cx="106372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등록된 마늘 산지는 여섯 곳입니다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77240" y="2880360"/>
            <a:ext cx="932688" cy="713232"/>
          </a:xfrm>
          <a:prstGeom prst="roundRect">
            <a:avLst>
              <a:gd name="adj" fmla="val 39744"/>
            </a:avLst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880360"/>
            <a:ext cx="932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의성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56232" y="2880360"/>
            <a:ext cx="932688" cy="713232"/>
          </a:xfrm>
          <a:prstGeom prst="roundRect">
            <a:avLst>
              <a:gd name="adj" fmla="val 39744"/>
            </a:avLst>
          </a:prstGeom>
          <a:solidFill>
            <a:srgbClr val="FFFFFF"/>
          </a:solidFill>
          <a:ln w="12700">
            <a:solidFill>
              <a:srgbClr val="CED5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56232" y="2880360"/>
            <a:ext cx="932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E8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남해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935224" y="2880360"/>
            <a:ext cx="932688" cy="713232"/>
          </a:xfrm>
          <a:prstGeom prst="roundRect">
            <a:avLst>
              <a:gd name="adj" fmla="val 39744"/>
            </a:avLst>
          </a:prstGeom>
          <a:solidFill>
            <a:srgbClr val="FFFFFF"/>
          </a:solidFill>
          <a:ln w="12700">
            <a:solidFill>
              <a:srgbClr val="CED5D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35224" y="2880360"/>
            <a:ext cx="932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E8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단양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4014216" y="2880360"/>
            <a:ext cx="932688" cy="713232"/>
          </a:xfrm>
          <a:prstGeom prst="roundRect">
            <a:avLst>
              <a:gd name="adj" fmla="val 39744"/>
            </a:avLst>
          </a:prstGeom>
          <a:solidFill>
            <a:srgbClr val="FFFFFF"/>
          </a:solidFill>
          <a:ln w="12700">
            <a:solidFill>
              <a:srgbClr val="CED5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14216" y="2880360"/>
            <a:ext cx="932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E8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삼척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093208" y="2880360"/>
            <a:ext cx="932688" cy="713232"/>
          </a:xfrm>
          <a:prstGeom prst="roundRect">
            <a:avLst>
              <a:gd name="adj" fmla="val 39744"/>
            </a:avLst>
          </a:prstGeom>
          <a:solidFill>
            <a:srgbClr val="FFFFFF"/>
          </a:solidFill>
          <a:ln w="12700">
            <a:solidFill>
              <a:srgbClr val="CED5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93208" y="2880360"/>
            <a:ext cx="932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E8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창녕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172200" y="2880360"/>
            <a:ext cx="932688" cy="713232"/>
          </a:xfrm>
          <a:prstGeom prst="roundRect">
            <a:avLst>
              <a:gd name="adj" fmla="val 39744"/>
            </a:avLst>
          </a:prstGeom>
          <a:solidFill>
            <a:srgbClr val="FFFFFF"/>
          </a:solidFill>
          <a:ln w="12700">
            <a:solidFill>
              <a:srgbClr val="CED5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72200" y="2880360"/>
            <a:ext cx="9326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E8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고흥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77240" y="402336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C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지리적 표시 등록 기준. 농림축산식품부 등록현황.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8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마늘만이 아닙니다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777240" y="1600200"/>
            <a:ext cx="2412187" cy="2286000"/>
          </a:xfrm>
          <a:prstGeom prst="roundRect">
            <a:avLst>
              <a:gd name="adj" fmla="val 6400"/>
            </a:avLst>
          </a:prstGeom>
          <a:solidFill>
            <a:srgbClr val="F0F3F2"/>
          </a:solidFill>
          <a:ln w="12700">
            <a:solidFill>
              <a:srgbClr val="CED5D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874520"/>
            <a:ext cx="241218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E8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쌀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77240" y="2468880"/>
            <a:ext cx="241218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6곳</a:t>
            </a:r>
            <a:endParaRPr lang="en-US" sz="5200" dirty="0"/>
          </a:p>
        </p:txBody>
      </p:sp>
      <p:sp>
        <p:nvSpPr>
          <p:cNvPr id="6" name="Shape 4"/>
          <p:cNvSpPr/>
          <p:nvPr/>
        </p:nvSpPr>
        <p:spPr>
          <a:xfrm>
            <a:off x="3518611" y="1600200"/>
            <a:ext cx="2412187" cy="2286000"/>
          </a:xfrm>
          <a:prstGeom prst="roundRect">
            <a:avLst>
              <a:gd name="adj" fmla="val 6400"/>
            </a:avLst>
          </a:prstGeom>
          <a:solidFill>
            <a:srgbClr val="F0F3F2"/>
          </a:solidFill>
          <a:ln w="12700">
            <a:solidFill>
              <a:srgbClr val="CED5D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18611" y="1874520"/>
            <a:ext cx="241218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E8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사과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518611" y="2468880"/>
            <a:ext cx="241218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5곳</a:t>
            </a: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6259982" y="1600200"/>
            <a:ext cx="2412187" cy="2286000"/>
          </a:xfrm>
          <a:prstGeom prst="roundRect">
            <a:avLst>
              <a:gd name="adj" fmla="val 6400"/>
            </a:avLst>
          </a:prstGeom>
          <a:solidFill>
            <a:srgbClr val="F0F3F2"/>
          </a:solidFill>
          <a:ln w="12700">
            <a:solidFill>
              <a:srgbClr val="CED5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59982" y="1874520"/>
            <a:ext cx="241218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E8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한우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259982" y="2468880"/>
            <a:ext cx="241218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5곳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9001354" y="1600200"/>
            <a:ext cx="2412187" cy="2286000"/>
          </a:xfrm>
          <a:prstGeom prst="roundRect">
            <a:avLst>
              <a:gd name="adj" fmla="val 6400"/>
            </a:avLst>
          </a:prstGeom>
          <a:solidFill>
            <a:srgbClr val="F0F3F2"/>
          </a:solidFill>
          <a:ln w="12700">
            <a:solidFill>
              <a:srgbClr val="CED5D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01354" y="1874520"/>
            <a:ext cx="2412187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E8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김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9001354" y="2468880"/>
            <a:ext cx="2412187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5곳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777240" y="44348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산지가 여럿인 품목이 19가지입니다.</a:t>
            </a:r>
            <a:endParaRPr lang="en-US" sz="3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8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그리고 반대쪽에는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46304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3977640" y="2788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7E8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가지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349240" y="1965960"/>
            <a:ext cx="6065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3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등록된 곳이 전국에 한 곳뿐인 품목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349240" y="2697480"/>
            <a:ext cx="60652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7E8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가려진 게 아니라 아예 알려지지 않은 것들입니다.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77240" y="4206240"/>
            <a:ext cx="1755648" cy="548640"/>
          </a:xfrm>
          <a:prstGeom prst="roundRect">
            <a:avLst>
              <a:gd name="adj" fmla="val 51667"/>
            </a:avLst>
          </a:prstGeom>
          <a:solidFill>
            <a:srgbClr val="FFFFFF"/>
          </a:solidFill>
          <a:ln w="12700">
            <a:solidFill>
              <a:srgbClr val="CED5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4206240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E8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장흥매생이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679192" y="4206240"/>
            <a:ext cx="1755648" cy="548640"/>
          </a:xfrm>
          <a:prstGeom prst="roundRect">
            <a:avLst>
              <a:gd name="adj" fmla="val 51667"/>
            </a:avLst>
          </a:prstGeom>
          <a:solidFill>
            <a:srgbClr val="FFFFFF"/>
          </a:solidFill>
          <a:ln w="12700">
            <a:solidFill>
              <a:srgbClr val="CED5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79192" y="4206240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E8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의령망개떡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581144" y="4206240"/>
            <a:ext cx="1755648" cy="548640"/>
          </a:xfrm>
          <a:prstGeom prst="roundRect">
            <a:avLst>
              <a:gd name="adj" fmla="val 51667"/>
            </a:avLst>
          </a:prstGeom>
          <a:solidFill>
            <a:srgbClr val="FFFFFF"/>
          </a:solidFill>
          <a:ln w="12700">
            <a:solidFill>
              <a:srgbClr val="CED5D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81144" y="4206240"/>
            <a:ext cx="17556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E8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양구시래기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83096" y="4206240"/>
            <a:ext cx="1481328" cy="548640"/>
          </a:xfrm>
          <a:prstGeom prst="roundRect">
            <a:avLst>
              <a:gd name="adj" fmla="val 51667"/>
            </a:avLst>
          </a:prstGeom>
          <a:solidFill>
            <a:srgbClr val="FFFFFF"/>
          </a:solidFill>
          <a:ln w="12700">
            <a:solidFill>
              <a:srgbClr val="CED5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83096" y="420624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7E8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곡성토란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8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쏠림은 품목만의 일이 아닙니다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전남 한 곳이 39%를 가져갑니다</a:t>
            </a:r>
            <a:endParaRPr lang="en-US" sz="3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77240" y="1965960"/>
          <a:ext cx="10637215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77240" y="5486400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CAC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지역이 없는 품목 8가지(고려인삼 계열)는 뺐습니다. 광역시가 0인 것은 산지가 아니어서입니다.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8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BBDB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지금까지의 방식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637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ABBDB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알리기.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" y="2697480"/>
            <a:ext cx="106372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알릴수록,</a:t>
            </a:r>
            <a:endParaRPr lang="en-US" sz="5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이미 아는 것이 더 알려집니다.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77240" y="493776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9CAC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노출은 인지도를 따라가니까요.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8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우리가 안 한 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280160"/>
            <a:ext cx="10637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취향을 묻지 않았습니다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77240" y="2423160"/>
            <a:ext cx="10637215" cy="1371600"/>
          </a:xfrm>
          <a:prstGeom prst="roundRect">
            <a:avLst>
              <a:gd name="adj" fmla="val 10667"/>
            </a:avLst>
          </a:prstGeom>
          <a:solidFill>
            <a:srgbClr val="F0F3F2"/>
          </a:solidFill>
          <a:ln w="12700">
            <a:solidFill>
              <a:srgbClr val="CED5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2651760"/>
            <a:ext cx="97228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7E8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“좋아하는 음식을 고르세요”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34440" y="3200400"/>
            <a:ext cx="9722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383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물으면 이미 아는 품목으로 몰립니다.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4206240"/>
            <a:ext cx="10637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우리가 풀려는 문제를 우리가 강화하게 됩니다.</a:t>
            </a:r>
            <a:endParaRPr lang="en-US" sz="3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8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대신 한 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143000"/>
            <a:ext cx="106372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생년월일로 배정합니다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77240" y="2377440"/>
            <a:ext cx="3210458" cy="1691640"/>
          </a:xfrm>
          <a:prstGeom prst="roundRect">
            <a:avLst>
              <a:gd name="adj" fmla="val 8649"/>
            </a:avLst>
          </a:prstGeom>
          <a:solidFill>
            <a:srgbClr val="F0F3F2"/>
          </a:solidFill>
          <a:ln w="12700">
            <a:solidFill>
              <a:srgbClr val="CED5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51560" y="25603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AC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51560" y="2971800"/>
            <a:ext cx="2661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3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생년월일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51560" y="3456432"/>
            <a:ext cx="2661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E8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묻는 건 이것뿐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042562" y="2971800"/>
            <a:ext cx="393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CAC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490618" y="2377440"/>
            <a:ext cx="3210458" cy="1691640"/>
          </a:xfrm>
          <a:prstGeom prst="roundRect">
            <a:avLst>
              <a:gd name="adj" fmla="val 8649"/>
            </a:avLst>
          </a:prstGeom>
          <a:solidFill>
            <a:srgbClr val="F0F3F2"/>
          </a:solidFill>
          <a:ln w="12700">
            <a:solidFill>
              <a:srgbClr val="CED5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64938" y="25603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CAC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64938" y="2971800"/>
            <a:ext cx="2661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3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그날의 수확기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64938" y="3456432"/>
            <a:ext cx="2661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E8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사주가 아니라 제철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755941" y="2971800"/>
            <a:ext cx="393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CACA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203997" y="2377440"/>
            <a:ext cx="3210458" cy="1691640"/>
          </a:xfrm>
          <a:prstGeom prst="roundRect">
            <a:avLst>
              <a:gd name="adj" fmla="val 8649"/>
            </a:avLst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78317" y="25603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BB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78317" y="2971800"/>
            <a:ext cx="2661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품목 하나 배정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78317" y="3456432"/>
            <a:ext cx="26618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BBDB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예측이 아니라 제비뽑기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77240" y="457200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7E8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날짜는 언제나 같은 결과가 나옵니다. 무작위가 아닙니다.</a:t>
            </a:r>
            <a:endParaRPr lang="en-US" sz="1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8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ABBDB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직접 해보시죠</a:t>
            </a:r>
            <a:endParaRPr lang="en-US" sz="1300" dirty="0"/>
          </a:p>
        </p:txBody>
      </p:sp>
      <p:pic>
        <p:nvPicPr>
          <p:cNvPr id="3" name="Image 0" descr="/Users/ijuhwan/leejuhwan/1-active/2608-yeonggwang-food/20-assets/QR_발표장용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00200"/>
            <a:ext cx="3200400" cy="3200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17720" y="2011680"/>
            <a:ext cx="67967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찍어보세요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617720" y="2834640"/>
            <a:ext cx="6796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BBDB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hwwwaan.github.io/geofood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4617720" y="3520440"/>
            <a:ext cx="67967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CAC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설치도 로그인도 없습니다. 생년월일만 넣으면 됩니다.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77240" y="525780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E8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심사위원 생일 → 결과 → 같은 이름 다른 곳 → 그 지역 → 전체 목록 → 시도 배치도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8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지킨 것 셋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777240" y="1417320"/>
            <a:ext cx="621792" cy="621792"/>
          </a:xfrm>
          <a:prstGeom prst="ellipse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41732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691640" y="1362456"/>
            <a:ext cx="97228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3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취향을 묻지 않는다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691640" y="1892808"/>
            <a:ext cx="9722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E8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물으면 아는 품목으로 몰립니다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77240" y="2834640"/>
            <a:ext cx="621792" cy="621792"/>
          </a:xfrm>
          <a:prstGeom prst="ellipse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83464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91640" y="2779776"/>
            <a:ext cx="97228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3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날은 같은 결과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1691640" y="3310128"/>
            <a:ext cx="9722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E8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무작위면 ‘내 것’이라는 느낌이 사라집니다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4251960"/>
            <a:ext cx="621792" cy="621792"/>
          </a:xfrm>
          <a:prstGeom prst="ellipse">
            <a:avLst/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42519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691640" y="4197096"/>
            <a:ext cx="97228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3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인지도를 추정하지 않는다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1691640" y="4727448"/>
            <a:ext cx="9722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7E8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134개를 눈대중으로 매기면 근거가 사라집니다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8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성과를 어떻게 재나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05156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참여자 수가 아니라, 얼마나 고르게 퍼졌는지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777240" y="2194560"/>
            <a:ext cx="3277210" cy="2148840"/>
          </a:xfrm>
          <a:prstGeom prst="roundRect">
            <a:avLst>
              <a:gd name="adj" fmla="val 6809"/>
            </a:avLst>
          </a:prstGeom>
          <a:solidFill>
            <a:srgbClr val="383838"/>
          </a:solidFill>
          <a:ln w="12700">
            <a:solidFill>
              <a:srgbClr val="38383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33272" y="2606040"/>
            <a:ext cx="27651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134 / 134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33272" y="3566160"/>
            <a:ext cx="27651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BBDB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전부 노출됐습니다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456786" y="2194560"/>
            <a:ext cx="3277210" cy="2148840"/>
          </a:xfrm>
          <a:prstGeom prst="roundRect">
            <a:avLst>
              <a:gd name="adj" fmla="val 6809"/>
            </a:avLst>
          </a:prstGeom>
          <a:solidFill>
            <a:srgbClr val="F0F3F2"/>
          </a:solidFill>
          <a:ln w="12700">
            <a:solidFill>
              <a:srgbClr val="CED5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12818" y="2606040"/>
            <a:ext cx="27651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0.0132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712818" y="3566160"/>
            <a:ext cx="27651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E8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HHI · 완전 균등은 0.0075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36331" y="2194560"/>
            <a:ext cx="3277210" cy="2148840"/>
          </a:xfrm>
          <a:prstGeom prst="roundRect">
            <a:avLst>
              <a:gd name="adj" fmla="val 6809"/>
            </a:avLst>
          </a:prstGeom>
          <a:solidFill>
            <a:srgbClr val="F0F3F2"/>
          </a:solidFill>
          <a:ln w="12700">
            <a:solidFill>
              <a:srgbClr val="CED5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92363" y="2606040"/>
            <a:ext cx="276514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3838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392363" y="3566160"/>
            <a:ext cx="276514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7E8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무작위 생년월일 시뮬레이션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77240" y="480060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7E8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영광 22종일 때는 21개만 노출됐고, 한 품목이 석 달을 독식했습니다.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6372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E8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지금 못 하는 것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77240" y="1005840"/>
            <a:ext cx="106372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먼저 말씀드립니다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10637215" cy="1115568"/>
          </a:xfrm>
          <a:prstGeom prst="roundRect">
            <a:avLst>
              <a:gd name="adj" fmla="val 11475"/>
            </a:avLst>
          </a:prstGeom>
          <a:solidFill>
            <a:srgbClr val="F0F3F2"/>
          </a:solidFill>
          <a:ln w="12700">
            <a:solidFill>
              <a:srgbClr val="CED5D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61288" y="2093976"/>
            <a:ext cx="98691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3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현실 기준선이 없습니다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61288" y="2551176"/>
            <a:ext cx="98691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E8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노출이 어디에 쏠렸는지 재지 않았습니다. 그래서 ‘개선했다’는 아직 못 합니다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3337560"/>
            <a:ext cx="10637215" cy="1115568"/>
          </a:xfrm>
          <a:prstGeom prst="roundRect">
            <a:avLst>
              <a:gd name="adj" fmla="val 11475"/>
            </a:avLst>
          </a:prstGeom>
          <a:solidFill>
            <a:srgbClr val="F0F3F2"/>
          </a:solidFill>
          <a:ln w="12700">
            <a:solidFill>
              <a:srgbClr val="CED5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61288" y="3465576"/>
            <a:ext cx="98691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3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수확기는 작물 일반 기준입니다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61288" y="3922776"/>
            <a:ext cx="98691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E8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등록 지역의 실제 수확기를 확인한 값이 아닙니다. 화면에도 그렇게 적어뒀습니다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4709160"/>
            <a:ext cx="10637215" cy="1115568"/>
          </a:xfrm>
          <a:prstGeom prst="roundRect">
            <a:avLst>
              <a:gd name="adj" fmla="val 11475"/>
            </a:avLst>
          </a:prstGeom>
          <a:solidFill>
            <a:srgbClr val="F0F3F2"/>
          </a:solidFill>
          <a:ln w="12700">
            <a:solidFill>
              <a:srgbClr val="CED5D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61288" y="4837176"/>
            <a:ext cx="986911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83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연중 품목이 열두 배 유리합니다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161288" y="5294376"/>
            <a:ext cx="986911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E8C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고칠 수 있는데 일부러 안 고쳤습니다. 고치면 지표가 뜻을 잃습니다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3838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737360"/>
            <a:ext cx="106372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ABBDB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지리적 표시로 등록된 먹거리는 134가지입니다.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77240" y="2560320"/>
            <a:ext cx="1063721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그런데 우리가 제일 잘 아는 이름 하나는,</a:t>
            </a:r>
            <a:endParaRPr lang="en-US" sz="4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 목록에 없습니다.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77240" y="4572000"/>
            <a:ext cx="2651760" cy="777240"/>
          </a:xfrm>
          <a:prstGeom prst="roundRect">
            <a:avLst>
              <a:gd name="adj" fmla="val 364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457200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383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영광굴비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3657600" y="4754880"/>
            <a:ext cx="77568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CACA9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2021년부터 등록을 시도하고 있습니다. 아직 안 됐습니다.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그날, 어디에서는 — 최종 발표</dc:title>
  <dc:subject>PptxGenJS Presentation</dc:subject>
  <dc:creator>그날, 어디에서는</dc:creator>
  <cp:lastModifiedBy>그날, 어디에서는</cp:lastModifiedBy>
  <cp:revision>1</cp:revision>
  <dcterms:created xsi:type="dcterms:W3CDTF">2026-08-18T04:17:44Z</dcterms:created>
  <dcterms:modified xsi:type="dcterms:W3CDTF">2026-08-18T04:17:44Z</dcterms:modified>
</cp:coreProperties>
</file>