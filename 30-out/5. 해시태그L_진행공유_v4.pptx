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24387048" cy="13716000"/>
  <p:notesSz cx="13716000" cy="24387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품목 수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oppins Semi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200건 이상</c:v>
                  </c:pt>
                  <c:pt idx="1">
                    <c:v>150~199건</c:v>
                  </c:pt>
                  <c:pt idx="2">
                    <c:v>100~149건</c:v>
                  </c:pt>
                  <c:pt idx="3">
                    <c:v>50~99건</c:v>
                  </c:pt>
                  <c:pt idx="4">
                    <c:v>50건 미만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1</c:v>
                </c:pt>
                <c:pt idx="3">
                  <c:v>31</c:v>
                </c:pt>
                <c:pt idx="4">
                  <c:v>75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oppins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6767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9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저희는 아직 지역을 확정하지 못했습니다. 대신 축을 세 번 접었고, 접을 때마다 무엇이 남는지를 정리해 왔습니다. 오늘은 그 과정과 지금 남아 있는 구조를 공유하겠습니다.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소외감에서 시작해 식품 접근성, 소농 인지도를 거쳐 지금은 인지 편중에 와 있습니다. 주제가 흔들린 게 아니라, 매번 저희가 먼저 세운 기준에 걸려서 접었습니다.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팀의 작업 방식입니다. 가설을 세우면 폐기 기준을 먼저 씁니다. 그다음 데스크로 확인하고, 걸리면 접습니다. 지난주에 확인 다섯 건을 돌려 세 방향을 접었습니다.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축을 접었습니다. 첫 번째는 식품 데이터가 반증했고, 두 번째는 이미 일곱 개 주체가 들어와 있었고, 세 번째는 확인 세 건이 연속으로 걸렸습니다. 가장 두꺼운 리서치가 두 번째 축에 있었는데, 아까웠지만 붙들지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축을 접고 남은 건 지역이 아니라 구조였습니다. 하나의 이름이 나머지를 가리는 형태가 여러 군에서 똑같이 관찰됩니다. 영광의 굴비, 의성의 마늘, 정선의 카지노, 무주의 태권도가 같은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처음엔 취향을 물어서 추천하려 했습니다. 그런데 추천 알고리즘은 많이 팔린 걸 더 보여주고, 더 보여줘서 더 팔리게 만듭니다. 저희가 풀려는 문제가 노출 편중인데 추천이 바로 그 편중을 만드는 장치였습니다. 그래서 예측이 아니라 배정으로 뒤집었습니다.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지역은 아직 고르는 중입니다. 기준 세 개를 세워 놨는데 세 개를 모두 채우는 곳이 아직 없습니다. 지금은 영광이 1순위인데, 앵커가 너무 강해서 숨은 곳이라는 프레임과 충돌하는 약점이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지역을 확정하기 전에 프로토타입을 먼저 만들었습니다. 지역에 종속되지 않게 설계했기 때문에 지역이 바뀌어도 코드는 그대로고 데이터 파일만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저희는 참여자 수나 조회수를 성과로 보지 않습니다. 노출이 얼마나 고르게 퍼졌는가를 잽니다. 다만 현실이 얼마나 몰려 있는지를 아직 못 쟀기 때문에, 개선했다고는 말할 수 없는 상태입니다.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답을 못 찾은 네 가지입니다. 특히 두 번째가 큽니다. 김천 김밥축제는 시 인구를 넘는 사람을 모았는데도 인구가 계속 줄었습니다. 노출을 만들면 무엇이 달라지는가에 저희도 아직 답이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나흘 계획입니다. 가장 먼저 확인할 건 그 지역을 아예 모른다는 응답 비율입니다. 이게 높으면 문제는 가려진 게 아니라 애초에 안 알려진 것이고, 그러면 구조 자체를 다시 세워야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9344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2026 · 08 · 18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9344" y="5120640"/>
            <a:ext cx="2011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지역보다 구조를 먼저</a:t>
            </a:r>
            <a:endParaRPr lang="en-US" sz="8200" dirty="0"/>
          </a:p>
        </p:txBody>
      </p:sp>
      <p:sp>
        <p:nvSpPr>
          <p:cNvPr id="12" name="Text 10"/>
          <p:cNvSpPr/>
          <p:nvPr/>
        </p:nvSpPr>
        <p:spPr>
          <a:xfrm>
            <a:off x="1691640" y="7589520"/>
            <a:ext cx="1828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지역 × 식품 — 지금까지의 과정과 남은 구조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609344" y="10972800"/>
            <a:ext cx="4023360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9344" y="11201400"/>
            <a:ext cx="1280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임팩트베이스캠프 · 해시태그 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9344" y="11750040"/>
            <a:ext cx="1280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박정진 · 이준서 · 임지민 · 이세진 · 이주환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위치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축을 세 번 접었다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041648" y="3931920"/>
            <a:ext cx="1630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주제를 바꾼 것이 아니라 검증 기준에 걸려서 접은 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12564" y="6263640"/>
            <a:ext cx="15361920" cy="0"/>
          </a:xfrm>
          <a:prstGeom prst="line">
            <a:avLst/>
          </a:prstGeom>
          <a:noFill/>
          <a:ln w="15875">
            <a:solidFill>
              <a:srgbClr val="DD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8244" y="5989320"/>
            <a:ext cx="548640" cy="548640"/>
          </a:xfrm>
          <a:prstGeom prst="ellipse">
            <a:avLst/>
          </a:prstGeom>
          <a:solidFill>
            <a:srgbClr val="DDDDE2"/>
          </a:solidFill>
          <a:ln/>
        </p:spPr>
      </p:sp>
      <p:sp>
        <p:nvSpPr>
          <p:cNvPr id="17" name="Text 15"/>
          <p:cNvSpPr/>
          <p:nvPr/>
        </p:nvSpPr>
        <p:spPr>
          <a:xfrm>
            <a:off x="2226564" y="6720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소외감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226564" y="7360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· 신뢰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52444" y="8001000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2444" y="80010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58884" y="5989320"/>
            <a:ext cx="548640" cy="548640"/>
          </a:xfrm>
          <a:prstGeom prst="ellipse">
            <a:avLst/>
          </a:prstGeom>
          <a:solidFill>
            <a:srgbClr val="DDDDE2"/>
          </a:solidFill>
          <a:ln/>
        </p:spPr>
      </p:sp>
      <p:sp>
        <p:nvSpPr>
          <p:cNvPr id="22" name="Text 20"/>
          <p:cNvSpPr/>
          <p:nvPr/>
        </p:nvSpPr>
        <p:spPr>
          <a:xfrm>
            <a:off x="7347204" y="6720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식품 접근성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347204" y="7360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실재 결핍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73084" y="8001000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73084" y="80010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4479524" y="5989320"/>
            <a:ext cx="548640" cy="548640"/>
          </a:xfrm>
          <a:prstGeom prst="ellipse">
            <a:avLst/>
          </a:prstGeom>
          <a:solidFill>
            <a:srgbClr val="DDDDE2"/>
          </a:solidFill>
          <a:ln/>
        </p:spPr>
      </p:sp>
      <p:sp>
        <p:nvSpPr>
          <p:cNvPr id="27" name="Text 25"/>
          <p:cNvSpPr/>
          <p:nvPr/>
        </p:nvSpPr>
        <p:spPr>
          <a:xfrm>
            <a:off x="12467844" y="6720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소농 인지도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467844" y="7360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단절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93724" y="8001000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93724" y="80010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9600164" y="598932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17588484" y="6720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 편중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7588484" y="7360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 그림자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8914364" y="8001000"/>
            <a:ext cx="1920240" cy="60350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18914364" y="80010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70048" y="9418320"/>
            <a:ext cx="190469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70048" y="9418320"/>
            <a:ext cx="19046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접은 이유가 매번 우리가 먼저 세운 기준이었음. 기준 없이 바꾼 적은 없음.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670048" y="11567160"/>
            <a:ext cx="1904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공유하는 것은 네 번째 축의 결론이 아니라, 지금까지의 구조와 남아 있는 물음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방식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 전에 폐기 기준부터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217420" y="5623560"/>
            <a:ext cx="4343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7420" y="6126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37460" y="6949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가설을 세운다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223260" y="8001000"/>
            <a:ext cx="2331720" cy="0"/>
          </a:xfrm>
          <a:prstGeom prst="line">
            <a:avLst/>
          </a:prstGeom>
          <a:noFill/>
          <a:ln w="12700">
            <a:solidFill>
              <a:srgbClr val="DDD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7460" y="81838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사실이면 이 방향이 맞는가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20356" y="5623560"/>
            <a:ext cx="4343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0356" y="6126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40396" y="6949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폐기 기준을 먼저 쓴다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426196" y="8001000"/>
            <a:ext cx="2331720" cy="0"/>
          </a:xfrm>
          <a:prstGeom prst="line">
            <a:avLst/>
          </a:prstGeom>
          <a:noFill/>
          <a:ln w="12700">
            <a:solidFill>
              <a:srgbClr val="DDD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40396" y="81838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나오면 이 방향을 접는가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623292" y="5623560"/>
            <a:ext cx="4343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23292" y="6126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943332" y="6949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데스크로 확인한다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13629132" y="8001000"/>
            <a:ext cx="2331720" cy="0"/>
          </a:xfrm>
          <a:prstGeom prst="line">
            <a:avLst/>
          </a:prstGeom>
          <a:noFill/>
          <a:ln w="12700">
            <a:solidFill>
              <a:srgbClr val="DDDD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43332" y="81838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자료로 확인 가능한 것부터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7826228" y="5623560"/>
            <a:ext cx="4343400" cy="3931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17826228" y="6126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0A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8146268" y="69494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걸리면 접는다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18832068" y="8001000"/>
            <a:ext cx="2331720" cy="0"/>
          </a:xfrm>
          <a:prstGeom prst="line">
            <a:avLst/>
          </a:prstGeom>
          <a:noFill/>
          <a:ln w="12700">
            <a:solidFill>
              <a:srgbClr val="7676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46268" y="81838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3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아깝다고 붙들지 않는다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70048" y="10058400"/>
            <a:ext cx="1904695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2670048" y="10058400"/>
            <a:ext cx="190469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5건 · 한 시간 · 사흘치 작업을 아꼈고 세 방향을 접었음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접은 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왜 접혔는가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670048" y="5440680"/>
            <a:ext cx="19046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5440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04888" y="5440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139928" y="5440680"/>
            <a:ext cx="7982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접은 근거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70048" y="6309360"/>
            <a:ext cx="190469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63093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 격차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04888" y="63093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인프라는 있는데 없다고 생각한다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139928" y="6309360"/>
            <a:ext cx="7982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행정리 73.5%에 소매점이 실제로 없음. 인식이 정확했음 (농림어업총조사 2020)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70048" y="7680960"/>
            <a:ext cx="190469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7680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실재 결핍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04888" y="7680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곳이 없어서 못 산다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139928" y="7680960"/>
            <a:ext cx="7982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· 광역 · 농협 · 증권사 · 스타트업 등 최소 7개 주체가 이미 개입 중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70048" y="9052560"/>
            <a:ext cx="1904695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90525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탐색 단절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04888" y="9052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사람과 사는 사람이 서로를 못 찾는다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139928" y="9052560"/>
            <a:ext cx="7982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농가별 매출 분포 미공개 · aT 온라인 마케터 육성사업 진행 중 · 실시간 판매 통보는 이미 구현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70048" y="10744200"/>
            <a:ext cx="19046952" cy="1188720"/>
          </a:xfrm>
          <a:prstGeom prst="rect">
            <a:avLst/>
          </a:prstGeom>
          <a:solidFill>
            <a:srgbClr val="EDEDF0"/>
          </a:solidFill>
          <a:ln/>
        </p:spPr>
      </p:sp>
      <p:sp>
        <p:nvSpPr>
          <p:cNvPr id="31" name="Text 29"/>
          <p:cNvSpPr/>
          <p:nvPr/>
        </p:nvSpPr>
        <p:spPr>
          <a:xfrm>
            <a:off x="2670048" y="10744200"/>
            <a:ext cx="19046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두꺼운 리서치가 두 번째 축에 있었음. 아까웠지만 붙들지 않음.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구조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이름이 나머지를 가린다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041648" y="3931920"/>
            <a:ext cx="1630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축을 접고 남은 것은 지역이 아니라 구조. 여러 지역에서 같은 형태로 관찰됨.</a:t>
            </a:r>
            <a:endParaRPr lang="en-US" sz="1700" dirty="0"/>
          </a:p>
        </p:txBody>
      </p:sp>
      <p:pic>
        <p:nvPicPr>
          <p:cNvPr id="15" name="Image 0" descr="/home/claude/img/sha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5349240"/>
            <a:ext cx="8138160" cy="61081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1402568" y="5349240"/>
            <a:ext cx="1031443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11859768" y="5349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060168" y="5349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7803368" y="5349240"/>
            <a:ext cx="3456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가려진 것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1402568" y="6217920"/>
            <a:ext cx="103144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859768" y="62179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전남 영광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060168" y="6217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굴비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7803368" y="6217920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지리적표시 5종에 굴비 없음 · 전수 확인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1402568" y="7269480"/>
            <a:ext cx="103144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59768" y="72694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경북 의성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5060168" y="72694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마늘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7803368" y="7269480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인지도이나 장소 인지도 아님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1402568" y="8321040"/>
            <a:ext cx="103144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859768" y="83210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강원 정선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5060168" y="832104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카지노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7803368" y="8321040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연상 이미지 65.2% · 관광시설 9.5%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1402568" y="9372600"/>
            <a:ext cx="103144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859768" y="93726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전북 무주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5060168" y="937260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태권도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7803368" y="9372600"/>
            <a:ext cx="3456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집단 외 방문 동기 없음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670048" y="10607040"/>
            <a:ext cx="19046952" cy="1234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4"/>
          <p:cNvSpPr/>
          <p:nvPr/>
        </p:nvSpPr>
        <p:spPr>
          <a:xfrm>
            <a:off x="2670048" y="10607040"/>
            <a:ext cx="19046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특정 지역이 아니라 앵커 하나가 나머지를 덮는 구조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구조적 논증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추천이 아니라 배정인가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670048" y="5303520"/>
            <a:ext cx="87325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0048" y="571500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취향 기반 추천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70048" y="6263640"/>
            <a:ext cx="8732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좋아하는가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670048" y="7178040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18688" y="7571232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팔린 것이 더 노출됨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70048" y="8476488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18688" y="8869680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노출되어 더 팔림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584448" y="9692640"/>
            <a:ext cx="6903720" cy="0"/>
          </a:xfrm>
          <a:prstGeom prst="line">
            <a:avLst/>
          </a:prstGeom>
          <a:noFill/>
          <a:ln w="12700">
            <a:solidFill>
              <a:srgbClr val="DDD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0048" y="9802368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편중 강화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12134088" y="5303520"/>
            <a:ext cx="8732520" cy="5074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12134088" y="5715000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생년월일 기반 배정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134088" y="6263640"/>
            <a:ext cx="8732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태어났는가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12134088" y="7178040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82728" y="7571232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취향과 무관하게 배분됨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134088" y="8476488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682728" y="8869680"/>
            <a:ext cx="7635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덜 알려진 것에도 차례가 옴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3048488" y="9692640"/>
            <a:ext cx="6903720" cy="0"/>
          </a:xfrm>
          <a:prstGeom prst="line">
            <a:avLst/>
          </a:prstGeom>
          <a:noFill/>
          <a:ln w="12700">
            <a:solidFill>
              <a:srgbClr val="7676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134088" y="9802368"/>
            <a:ext cx="8732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편중 완화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2670048" y="10835640"/>
            <a:ext cx="19046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풀려는 문제가 노출 편중인데, 추천 알고리즘은 편중을 만드는 장치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670048" y="11750040"/>
            <a:ext cx="1904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배정 근거는 사주가 아니라 제철 · 수확기. 취향도 성격유형도 묻지 않음 — MBTI 는 8/18 제거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 전환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지역을 고르지 않기로 했다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041648" y="3931920"/>
            <a:ext cx="1630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기준을 모두 채우는 곳이 없어, 한 곳을 고르는 대신 전국 데이터로 넓혔음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670048" y="5440680"/>
            <a:ext cx="8321040" cy="5074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47288" y="58521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고르려던 기준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47288" y="6583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44568" y="65379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앵커가 뚜렷할 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47288" y="7818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44568" y="7772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 외 품목이 실재할 것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47288" y="9052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44568" y="90068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· 민간 개입이 비어 있을 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447288" y="9829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기준을 모두 채우는 곳이 하나도 없었음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585448" y="5440680"/>
            <a:ext cx="10131552" cy="16002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88368" y="5669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전남 영광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88368" y="6309360"/>
            <a:ext cx="219456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2088368" y="6309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사례로 유지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94408" y="5641848"/>
            <a:ext cx="6473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 지리적표시 5종에 굴비 미포함 — 원자료로 전수 확인 (8/18)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694408" y="6309360"/>
            <a:ext cx="6473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 앵커가 강해 ‘숨은 곳’ 프레임과 충돌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1585448" y="7178040"/>
            <a:ext cx="101315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88368" y="7406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경북 의성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088368" y="8046720"/>
            <a:ext cx="2194560" cy="502920"/>
          </a:xfrm>
          <a:prstGeom prst="rect">
            <a:avLst/>
          </a:prstGeom>
          <a:solidFill>
            <a:srgbClr val="EDEDF0"/>
          </a:solidFill>
          <a:ln/>
        </p:spPr>
      </p:sp>
      <p:sp>
        <p:nvSpPr>
          <p:cNvPr id="33" name="Text 31"/>
          <p:cNvSpPr/>
          <p:nvPr/>
        </p:nvSpPr>
        <p:spPr>
          <a:xfrm>
            <a:off x="12088368" y="8046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694408" y="7379208"/>
            <a:ext cx="6473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 상품 vs 장소 인지도 분리가 가장 선명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4694408" y="8046720"/>
            <a:ext cx="6473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 가가호호 1호 + 스타트업 파일럿 = 개입 과밀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1585448" y="8915400"/>
            <a:ext cx="1013155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88368" y="9144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충남 청양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088368" y="9784080"/>
            <a:ext cx="2194560" cy="502920"/>
          </a:xfrm>
          <a:prstGeom prst="rect">
            <a:avLst/>
          </a:prstGeom>
          <a:solidFill>
            <a:srgbClr val="EDEDF0"/>
          </a:solidFill>
          <a:ln/>
        </p:spPr>
      </p:sp>
      <p:sp>
        <p:nvSpPr>
          <p:cNvPr id="39" name="Text 37"/>
          <p:cNvSpPr/>
          <p:nvPr/>
        </p:nvSpPr>
        <p:spPr>
          <a:xfrm>
            <a:off x="12088368" y="9784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694408" y="9116568"/>
            <a:ext cx="6473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 기본소득 지구 · 자료 확보 쉬움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4694408" y="9784080"/>
            <a:ext cx="6473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  NH · 기본소득 중복 개입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1585448" y="10652760"/>
            <a:ext cx="10131552" cy="1005840"/>
          </a:xfrm>
          <a:prstGeom prst="rect">
            <a:avLst/>
          </a:prstGeom>
          <a:solidFill>
            <a:srgbClr val="EDEDF0"/>
          </a:solidFill>
          <a:ln/>
        </p:spPr>
      </p:sp>
      <p:sp>
        <p:nvSpPr>
          <p:cNvPr id="43" name="Text 41"/>
          <p:cNvSpPr/>
          <p:nvPr/>
        </p:nvSpPr>
        <p:spPr>
          <a:xfrm>
            <a:off x="11585448" y="10652760"/>
            <a:ext cx="10131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대신 지리적표시 전국 134종을 데이터로 씀 · 영광은 그 안의 한 사례로 남음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134종으로 배포까지 마친 것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041648" y="3931920"/>
            <a:ext cx="1630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지리적표시 등록현황 그대로. 추정으로 채운 항목 없음</a:t>
            </a:r>
            <a:endParaRPr lang="en-US" sz="1700" dirty="0"/>
          </a:p>
        </p:txBody>
      </p:sp>
      <p:pic>
        <p:nvPicPr>
          <p:cNvPr id="15" name="Image 0" descr="/home/claude/img/scree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4" y="4892040"/>
            <a:ext cx="2880360" cy="57607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815584" y="10835640"/>
            <a:ext cx="388620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815584" y="108356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입력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04104" y="11612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생년월일 하나만</a:t>
            </a:r>
            <a:endParaRPr lang="en-US" sz="1300" dirty="0"/>
          </a:p>
        </p:txBody>
      </p:sp>
      <p:pic>
        <p:nvPicPr>
          <p:cNvPr id="19" name="Image 1" descr="/home/claude/img/scree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4" y="4892040"/>
            <a:ext cx="2880360" cy="57607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250424" y="10835640"/>
            <a:ext cx="388620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7"/>
          <p:cNvSpPr/>
          <p:nvPr/>
        </p:nvSpPr>
        <p:spPr>
          <a:xfrm>
            <a:off x="10250424" y="108356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결과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838944" y="11612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시기에 나는 것 하나</a:t>
            </a:r>
            <a:endParaRPr lang="en-US" sz="1300" dirty="0"/>
          </a:p>
        </p:txBody>
      </p:sp>
      <p:pic>
        <p:nvPicPr>
          <p:cNvPr id="23" name="Image 2" descr="/home/claude/img/screen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8184" y="4892040"/>
            <a:ext cx="2880360" cy="57607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4685264" y="10835640"/>
            <a:ext cx="388620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0"/>
          <p:cNvSpPr/>
          <p:nvPr/>
        </p:nvSpPr>
        <p:spPr>
          <a:xfrm>
            <a:off x="14685264" y="108356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전체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4273784" y="116128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134종 · 같은 이름끼리 · 시도 배치도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2670048" y="12271248"/>
            <a:ext cx="19046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hwwwaan.github.io/geofood — HTML 한 장 68KB · 서버 없음 · QR 로 바로 열림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09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구조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재고 무엇을 재지 않는가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2670048" y="5303520"/>
            <a:ext cx="8732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5623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재지 않는 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3008" y="6126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참여자 수 · 조회수 · 공유 수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493008" y="6858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산출을 성과로 보고하면 논증이 무너짐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134088" y="5303520"/>
            <a:ext cx="8732520" cy="2514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7048" y="5623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재는 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57048" y="6126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품목별 노출 분포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957048" y="6858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지니계수 · HHI · 노출된 품목 수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670048" y="8183880"/>
          <a:ext cx="120700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15334488" y="8183880"/>
            <a:ext cx="63825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928848" y="8366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134</a:t>
            </a:r>
            <a:pPr indent="0" marL="0">
              <a:buNone/>
            </a:pPr>
            <a:r>
              <a:rPr lang="en-US" sz="1600" baseline="15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</a:t>
            </a:r>
            <a:endParaRPr lang="en-US" sz="4400" dirty="0"/>
          </a:p>
        </p:txBody>
      </p:sp>
      <p:sp>
        <p:nvSpPr>
          <p:cNvPr id="25" name="Text 22"/>
          <p:cNvSpPr/>
          <p:nvPr/>
        </p:nvSpPr>
        <p:spPr>
          <a:xfrm>
            <a:off x="19037808" y="81838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노출된 품목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134종 전부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5334488" y="10149840"/>
            <a:ext cx="63825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928848" y="10332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0.0132</a:t>
            </a:r>
            <a:pPr indent="0" marL="0">
              <a:buNone/>
            </a:pPr>
            <a:r>
              <a:rPr lang="en-US" sz="1600" baseline="15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4400" dirty="0"/>
          </a:p>
        </p:txBody>
      </p:sp>
      <p:sp>
        <p:nvSpPr>
          <p:cNvPr id="28" name="Text 25"/>
          <p:cNvSpPr/>
          <p:nvPr/>
        </p:nvSpPr>
        <p:spPr>
          <a:xfrm>
            <a:off x="19037808" y="101498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HHI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균등 0.0075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670048" y="12024360"/>
            <a:ext cx="1904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134종으로 돌린 시뮬레이션 10,000건. 현실 편중 기준선은 아직 미측정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막힌 지점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답을 못 찾은 네 가지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041648" y="3931920"/>
            <a:ext cx="1630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피어 세션에서 의견을 듣고 싶은 지점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670048" y="5532120"/>
            <a:ext cx="9509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6035040"/>
            <a:ext cx="86868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6035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07408" y="5989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고통받는 사람이 뚜렷하지 않음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407408" y="67665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소비자는 앵커만 알아도 불편하지 않고, 지자체는 앵커로 이미 팔고 있음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121640" y="5532120"/>
            <a:ext cx="9509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61720" y="6035040"/>
            <a:ext cx="86868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3761720" y="60350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859000" y="59893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노출과 결과 사이가 비어 있음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859000" y="67665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김천 김밥축제는 시 인구를 넘는 15만 명을 모았으나 인구는 계속 감소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670048" y="8366760"/>
            <a:ext cx="9509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8869680"/>
            <a:ext cx="86868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886968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07408" y="8823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채택 주체가 반길 제안이 아님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407408" y="9601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지표는 앵커 노출을 낮추는 것. 앵커는 그 지역 최대 산업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3121640" y="8366760"/>
            <a:ext cx="9509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61720" y="8869680"/>
            <a:ext cx="868680" cy="6583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13761720" y="886968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859000" y="88239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전국으로 넓히니 대상이 흐려짐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4859000" y="9601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영광일 땐 업체 380곳이 대상이었는데, 79개 시군이 되니 말 걸 상대가 사라짐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70048" y="11292840"/>
            <a:ext cx="19046952" cy="1097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2670048" y="11292840"/>
            <a:ext cx="19046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팀에 묻고 싶은 것 · 검증해서 접는 것과 끝까지 미는 것을 어떻게 가르나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253192" y="530352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20120" y="530352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253192" y="13185648"/>
            <a:ext cx="566928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20120" y="12618720"/>
            <a:ext cx="0" cy="56692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9344" y="1234440"/>
            <a:ext cx="9692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8229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결정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70048" y="2697480"/>
            <a:ext cx="19046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무엇을 확정하는가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4512564" y="6035040"/>
            <a:ext cx="15361920" cy="0"/>
          </a:xfrm>
          <a:prstGeom prst="line">
            <a:avLst/>
          </a:prstGeom>
          <a:noFill/>
          <a:ln w="15875">
            <a:solidFill>
              <a:srgbClr val="DD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8244" y="5760720"/>
            <a:ext cx="548640" cy="548640"/>
          </a:xfrm>
          <a:prstGeom prst="ellipse">
            <a:avLst/>
          </a:prstGeom>
          <a:solidFill>
            <a:srgbClr val="DDDDE2"/>
          </a:solidFill>
          <a:ln/>
        </p:spPr>
      </p:sp>
      <p:sp>
        <p:nvSpPr>
          <p:cNvPr id="16" name="Text 14"/>
          <p:cNvSpPr/>
          <p:nvPr/>
        </p:nvSpPr>
        <p:spPr>
          <a:xfrm>
            <a:off x="2226564" y="6446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8/19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43684" y="6949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특허청 단체표장 확인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043684" y="8001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굴비 미등록의 마지막 확인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58884" y="5760720"/>
            <a:ext cx="548640" cy="548640"/>
          </a:xfrm>
          <a:prstGeom prst="ellipse">
            <a:avLst/>
          </a:prstGeom>
          <a:solidFill>
            <a:srgbClr val="DDDDE2"/>
          </a:solidFill>
          <a:ln/>
        </p:spPr>
      </p:sp>
      <p:sp>
        <p:nvSpPr>
          <p:cNvPr id="20" name="Text 18"/>
          <p:cNvSpPr/>
          <p:nvPr/>
        </p:nvSpPr>
        <p:spPr>
          <a:xfrm>
            <a:off x="7347204" y="6446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8/20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64324" y="6949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 편중 기준선 측정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164324" y="8001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없으면 개선을 말할 수 없음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4479524" y="5760720"/>
            <a:ext cx="548640" cy="548640"/>
          </a:xfrm>
          <a:prstGeom prst="ellipse">
            <a:avLst/>
          </a:prstGeom>
          <a:solidFill>
            <a:srgbClr val="DDDDE2"/>
          </a:solidFill>
          <a:ln/>
        </p:spPr>
      </p:sp>
      <p:sp>
        <p:nvSpPr>
          <p:cNvPr id="24" name="Text 22"/>
          <p:cNvSpPr/>
          <p:nvPr/>
        </p:nvSpPr>
        <p:spPr>
          <a:xfrm>
            <a:off x="12467844" y="6446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8/21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284964" y="6949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 여부 사전 설문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284964" y="8001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데이터 0건 상태 해소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9600164" y="576072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7588484" y="6446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767B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8/22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405604" y="6949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리허설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7405604" y="8001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76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8/24 발표 · 시연과 슬라이드 맞춰보기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70048" y="9189720"/>
            <a:ext cx="19046952" cy="2468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2670048" y="9555480"/>
            <a:ext cx="1904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확인할 것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70048" y="10040112"/>
            <a:ext cx="19046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 이름을 들어봤다”는 응답 비율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670048" y="10881360"/>
            <a:ext cx="1904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134종 중 몇 개를 들어봤는지. 인지도를 추정하지 않기로 한 뒤 비어 있는 자리를 이 값이 메움.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2026-08-18T04:31:50Z</dcterms:created>
  <dcterms:modified xsi:type="dcterms:W3CDTF">2026-08-18T04:31:50Z</dcterms:modified>
</cp:coreProperties>
</file>